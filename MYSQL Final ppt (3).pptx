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2" r:id="rId4"/>
    <p:sldId id="258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70" r:id="rId13"/>
    <p:sldId id="271" r:id="rId14"/>
    <p:sldId id="264" r:id="rId15"/>
    <p:sldId id="265" r:id="rId16"/>
    <p:sldId id="259" r:id="rId17"/>
  </p:sldIdLst>
  <p:sldSz cx="12192000" cy="6858000"/>
  <p:notesSz cx="6858000" cy="9144000"/>
  <p:embeddedFontLst>
    <p:embeddedFont>
      <p:font typeface="Lato Black" panose="020F0502020204030203" pitchFamily="34" charset="0"/>
      <p:bold r:id="rId19"/>
      <p:boldItalic r:id="rId20"/>
    </p:embeddedFont>
    <p:embeddedFont>
      <p:font typeface="Libre Baskerville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4008" y="100239"/>
            <a:ext cx="12256008" cy="606281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956816" y="3663123"/>
            <a:ext cx="838504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1" dirty="0"/>
              <a:t>Library Management System</a:t>
            </a:r>
            <a:endParaRPr sz="3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427656" y="859536"/>
            <a:ext cx="11688144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3238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Pranith Kumar Muthyapu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Background: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B.Tech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Information Technology, MLR Institute of Technology, Hyderabad (Batch 2026).</a:t>
            </a:r>
          </a:p>
          <a:p>
            <a:pPr>
              <a:buClr>
                <a:schemeClr val="dk1"/>
              </a:buClr>
              <a:buSzPts val="1800"/>
            </a:pP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1800"/>
            </a:pP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Why Data </a:t>
            </a: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Analyst</a:t>
            </a: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</a:p>
          <a:p>
            <a:pPr marL="285750" indent="-3238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Passionate about deriving insights from raw data using SQL, Python, and visualization tools to solve real-world problems.</a:t>
            </a:r>
          </a:p>
          <a:p>
            <a:pPr marL="285750" indent="-323850">
              <a:buClr>
                <a:schemeClr val="dk1"/>
              </a:buClr>
              <a:buSzPts val="1800"/>
              <a:buFont typeface="Arial"/>
              <a:buChar char="•"/>
            </a:pPr>
            <a:endParaRPr sz="2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Stack: Python, </a:t>
            </a:r>
            <a:r>
              <a:rPr lang="en-IN" sz="240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SQL,Power</a:t>
            </a:r>
            <a:r>
              <a:rPr lang="en-IN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BI, Excel</a:t>
            </a: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IN"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LinkedIn: </a:t>
            </a: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linkedin.com/in/pranith-kumar-365987326</a:t>
            </a:r>
            <a:r>
              <a:rPr lang="en-IN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  GitHub: github.com/PranithKumar1</a:t>
            </a: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A2C355-98C6-026D-AFA1-BCA48272657A}"/>
              </a:ext>
            </a:extLst>
          </p:cNvPr>
          <p:cNvSpPr txBox="1"/>
          <p:nvPr/>
        </p:nvSpPr>
        <p:spPr>
          <a:xfrm>
            <a:off x="931817" y="746036"/>
            <a:ext cx="7045234" cy="491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lang="en-IN" sz="32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7041B-15DA-ECDC-C0A7-8E5510DB6F1E}"/>
              </a:ext>
            </a:extLst>
          </p:cNvPr>
          <p:cNvSpPr txBox="1"/>
          <p:nvPr/>
        </p:nvSpPr>
        <p:spPr>
          <a:xfrm>
            <a:off x="931817" y="1488811"/>
            <a:ext cx="1051124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3238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Anwesh Bussa</a:t>
            </a:r>
            <a:r>
              <a:rPr lang="en-IN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Background: </a:t>
            </a:r>
            <a:r>
              <a:rPr lang="en-IN" sz="200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B.Tech</a:t>
            </a:r>
            <a:r>
              <a:rPr lang="en-IN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Information Technology, MLR Institute of Technology, Hyderabad (Batch 2026).</a:t>
            </a:r>
          </a:p>
          <a:p>
            <a:pPr>
              <a:buClr>
                <a:schemeClr val="dk1"/>
              </a:buClr>
              <a:buSzPts val="1800"/>
            </a:pP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</a:p>
          <a:p>
            <a:pPr>
              <a:buClr>
                <a:schemeClr val="dk1"/>
              </a:buClr>
              <a:buSzPts val="1800"/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IN" sz="2000" b="1" dirty="0"/>
              <a:t>Why Data Analytics: </a:t>
            </a:r>
          </a:p>
          <a:p>
            <a:pPr marL="285750" indent="-3238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000" dirty="0"/>
              <a:t>I chose Data Analytics because I enjoy finding patterns and turning raw data into   meaningful insights that drive real business decisions</a:t>
            </a:r>
            <a:endParaRPr lang="en-IN" sz="2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1800"/>
              <a:buFont typeface="Arial"/>
              <a:buChar char="•"/>
            </a:pP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1800"/>
              <a:buFont typeface="Arial"/>
              <a:buChar char="•"/>
            </a:pP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Stack: Python,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SQL,Power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BI, Excel.</a:t>
            </a:r>
          </a:p>
          <a:p>
            <a:pPr marL="285750" indent="-323850">
              <a:buClr>
                <a:schemeClr val="dk1"/>
              </a:buClr>
              <a:buSzPts val="1800"/>
              <a:buFont typeface="Arial"/>
              <a:buChar char="•"/>
            </a:pPr>
            <a:endParaRPr lang="en-IN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indent="-3238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LinkedIn: linkedin.com/in/</a:t>
            </a:r>
            <a:r>
              <a:rPr lang="en-IN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anwesh-bussa</a:t>
            </a: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|   GitHub: github.com/</a:t>
            </a:r>
            <a:r>
              <a:rPr lang="en-IN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anwesh-bussa</a:t>
            </a:r>
            <a:endParaRPr lang="en-IN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1800"/>
              <a:buFont typeface="Arial"/>
              <a:buChar char="•"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indent="-323850">
              <a:buClr>
                <a:schemeClr val="dk1"/>
              </a:buClr>
              <a:buSzPts val="1800"/>
              <a:buFont typeface="Arial"/>
              <a:buChar char="•"/>
            </a:pPr>
            <a:endParaRPr lang="en-IN" sz="1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43629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11176820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IN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Project Objective </a:t>
            </a: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endParaRPr sz="2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IN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Database Schema </a:t>
            </a: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endParaRPr sz="2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IN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Analysis Questions &amp; Query Results</a:t>
            </a: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endParaRPr sz="2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IN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Conclusions &amp; Key Findings </a:t>
            </a: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endParaRPr sz="2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IN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Experience &amp; Challenges </a:t>
            </a: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Agenda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11000000" cy="3816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IN" sz="22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 Design, build, and query a fully normalized relational Library Database in MySQL that models real-world library operations.</a:t>
            </a:r>
            <a:endParaRPr sz="22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IN" sz="22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Design: Create 7 tables - Publisher, Book, Book Authors, Library Branch, Book Copies, Borrower, and Book Loans.</a:t>
            </a:r>
            <a:endParaRPr sz="22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IN" sz="22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Relationships: Enforce referential integrity using Primary Keys and Foreign Keys across all tables.</a:t>
            </a:r>
            <a:endParaRPr sz="22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IN" sz="22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Population: 16 publishers, 20 books, 20 authors, 4 library branches, 8 borrowers, 80 book copy records, 51 loan records.</a:t>
            </a:r>
            <a:endParaRPr sz="22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IN" sz="22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Analysis: Answer 7 business use-case queries using SQL JOINs, subqueries, GROUP BY, HAVING, and date filters.</a:t>
            </a:r>
            <a:endParaRPr sz="22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IN" sz="22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 Used: MySQL Workbench for schema creation, data import, and query execution.</a:t>
            </a:r>
            <a:endParaRPr sz="22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Project Objective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27656" y="416554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Database Schema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42E420-BF89-4003-91C8-7D101AC2A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4984"/>
            <a:ext cx="12192000" cy="58430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427656" y="1299172"/>
            <a:ext cx="11310156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</a:pPr>
            <a:r>
              <a:rPr lang="en-IN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Q1: How many copies of 'The Lost Tribe' are owned by the Sharpstown branch? </a:t>
            </a:r>
            <a:endParaRPr sz="2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7536768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Key Analysis Questions &amp; Query Results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F6F7B2-D0FC-14A3-FFD7-C96271ECC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42011"/>
            <a:ext cx="7035654" cy="36168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7E3A84-FE72-5D29-7C11-21106F94DBD9}"/>
              </a:ext>
            </a:extLst>
          </p:cNvPr>
          <p:cNvSpPr txBox="1"/>
          <p:nvPr/>
        </p:nvSpPr>
        <p:spPr>
          <a:xfrm>
            <a:off x="7532913" y="1988661"/>
            <a:ext cx="44152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Approach: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Join Book, Book Copies, and Library Branch tables.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Filter by book title = “The Lost Tribe”.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Filter by branch name = “Sharpstown”.</a:t>
            </a:r>
          </a:p>
          <a:p>
            <a:r>
              <a:rPr lang="en-US" sz="1800" b="1" dirty="0"/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Sharpstown branch owns 5 copies.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Book is sufficiently available for borrowers.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Helps librarians track branch-specific inventory.</a:t>
            </a:r>
            <a:endParaRPr lang="en-IN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7E13B3-D9A0-ADBE-301D-2C0D867B8272}"/>
              </a:ext>
            </a:extLst>
          </p:cNvPr>
          <p:cNvSpPr txBox="1"/>
          <p:nvPr/>
        </p:nvSpPr>
        <p:spPr>
          <a:xfrm>
            <a:off x="301752" y="566928"/>
            <a:ext cx="1101852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Q2:How many copies of the book titled "The Lost Tribe" are owned by each library branch?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0B154-2AFA-78CC-5EFD-159F2FC0E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3" y="1280922"/>
            <a:ext cx="6948133" cy="49496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C0442B-9E65-4298-B75A-8516BC518BB1}"/>
              </a:ext>
            </a:extLst>
          </p:cNvPr>
          <p:cNvSpPr txBox="1"/>
          <p:nvPr/>
        </p:nvSpPr>
        <p:spPr>
          <a:xfrm>
            <a:off x="7550331" y="1551813"/>
            <a:ext cx="4248476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Join Book, Book Copies, and Branch tables.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Filter only “The Lost Tribe”.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Display copies branch-wise.</a:t>
            </a:r>
          </a:p>
          <a:p>
            <a:r>
              <a:rPr lang="en-US" sz="1800" b="1" dirty="0"/>
              <a:t>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Every branch has 5 copies.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Book distribution is balanced.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 branch faces a shortage of this title</a:t>
            </a:r>
            <a:r>
              <a:rPr lang="en-US" sz="1600" dirty="0"/>
              <a:t>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239808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E6C428-758E-8FFA-DE9A-B3103A93D0BB}"/>
              </a:ext>
            </a:extLst>
          </p:cNvPr>
          <p:cNvSpPr txBox="1"/>
          <p:nvPr/>
        </p:nvSpPr>
        <p:spPr>
          <a:xfrm>
            <a:off x="298727" y="219457"/>
            <a:ext cx="11725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Q3:Retrieve the names of all borrowers who do not have any books checked out.</a:t>
            </a: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F32C68-A165-1EBD-ABD3-3BB604FCC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28" y="790403"/>
            <a:ext cx="7303856" cy="47656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2F5FF1-2549-0A84-85D7-0E84EFD3F05C}"/>
              </a:ext>
            </a:extLst>
          </p:cNvPr>
          <p:cNvSpPr txBox="1"/>
          <p:nvPr/>
        </p:nvSpPr>
        <p:spPr>
          <a:xfrm>
            <a:off x="7920011" y="790403"/>
            <a:ext cx="37668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Use LEFT JOIN between Borrower and Loans.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Keep all borrowers.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Filter records with NULL loan information.</a:t>
            </a:r>
          </a:p>
          <a:p>
            <a:r>
              <a:rPr lang="en-US" sz="1800" b="1" dirty="0"/>
              <a:t>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Jane Smith has not borrowed any books.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Indicates low member activity.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Library can run engagement programs for inactive users.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473931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47827A-9B9D-CC51-FF00-8ED8F37CBB70}"/>
              </a:ext>
            </a:extLst>
          </p:cNvPr>
          <p:cNvSpPr txBox="1"/>
          <p:nvPr/>
        </p:nvSpPr>
        <p:spPr>
          <a:xfrm>
            <a:off x="237744" y="356616"/>
            <a:ext cx="118414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Q4:For each book that is loaned out from the "Sharpstown" branch and whose Due Date is 2/3/18, retrieve the book title, the borrower's name, and the borrower's address.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97D992-CC4D-A8ED-7E11-160EDB418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" y="1062049"/>
            <a:ext cx="7687056" cy="4889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71ED94-FA93-4419-13AC-DB2D350E9E6D}"/>
              </a:ext>
            </a:extLst>
          </p:cNvPr>
          <p:cNvSpPr txBox="1"/>
          <p:nvPr/>
        </p:nvSpPr>
        <p:spPr>
          <a:xfrm>
            <a:off x="8046720" y="1126057"/>
            <a:ext cx="39075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Join Loans, Books, Borrowers, and Branch tables.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Filter branch = Sharpstown.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Filter due date = 2018-02-03.</a:t>
            </a:r>
          </a:p>
          <a:p>
            <a:r>
              <a:rPr lang="en-US" sz="1800" b="1" dirty="0"/>
              <a:t>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Multiple books are due on the same date.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Borrower Tom Li holds several books.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Useful for sending return reminders.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1570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C2CDF7-18FB-121D-FB8A-E68E134FD3D8}"/>
              </a:ext>
            </a:extLst>
          </p:cNvPr>
          <p:cNvSpPr txBox="1"/>
          <p:nvPr/>
        </p:nvSpPr>
        <p:spPr>
          <a:xfrm>
            <a:off x="182880" y="283464"/>
            <a:ext cx="1173175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Q5:For each library branch, retrieve the branch name and the total number of books loaned out from that branch.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2FB58E-7534-7278-562A-A3C367CAC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68" y="1043301"/>
            <a:ext cx="8074152" cy="48994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9C09B8-691F-F567-A58D-6C2D9709D25C}"/>
              </a:ext>
            </a:extLst>
          </p:cNvPr>
          <p:cNvSpPr txBox="1"/>
          <p:nvPr/>
        </p:nvSpPr>
        <p:spPr>
          <a:xfrm>
            <a:off x="8446008" y="1043300"/>
            <a:ext cx="34686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Approach</a:t>
            </a:r>
            <a:r>
              <a:rPr lang="en-US" sz="1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Join Branch and Loans tables.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Count total loans using COUNT().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Group results by branch.</a:t>
            </a:r>
          </a:p>
          <a:p>
            <a:r>
              <a:rPr lang="en-US" sz="1800" b="1" dirty="0"/>
              <a:t>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Ann Arbor has the highest loans (20 books).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Central follows with 11 loans.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Indicates stronger demand at Ann Arbor branch.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789001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0C211F-7541-249C-774F-F258CF3B83F2}"/>
              </a:ext>
            </a:extLst>
          </p:cNvPr>
          <p:cNvSpPr txBox="1"/>
          <p:nvPr/>
        </p:nvSpPr>
        <p:spPr>
          <a:xfrm>
            <a:off x="310896" y="320040"/>
            <a:ext cx="1142085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Q6:Retrieve the names, addresses, and number of books checked out for all borrowers who have more than five books checked out.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4D9B6D-7AA3-A509-1962-4BE52F5A6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" y="1079518"/>
            <a:ext cx="7447135" cy="51497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F742E6-9415-9DB6-AE68-EC039AB97181}"/>
              </a:ext>
            </a:extLst>
          </p:cNvPr>
          <p:cNvSpPr txBox="1"/>
          <p:nvPr/>
        </p:nvSpPr>
        <p:spPr>
          <a:xfrm>
            <a:off x="7907382" y="1079518"/>
            <a:ext cx="39737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Join Borrowers and Loans tables.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Group data by borrower.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Use HAVING COUNT(*) &gt; 5.</a:t>
            </a:r>
          </a:p>
          <a:p>
            <a:r>
              <a:rPr lang="en-US" sz="1800" b="1" dirty="0"/>
              <a:t>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Tom Li borrowed the most books (14).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Some users are highly active.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Useful for loyalty programs and borrowing policy reviews.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131469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5E08CA-3297-8833-9BAC-AF59EFBEE0EB}"/>
              </a:ext>
            </a:extLst>
          </p:cNvPr>
          <p:cNvSpPr txBox="1"/>
          <p:nvPr/>
        </p:nvSpPr>
        <p:spPr>
          <a:xfrm>
            <a:off x="292608" y="393192"/>
            <a:ext cx="116586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Q7:For each book authored by "Stephen King", retrieve the title and the number of copies owned by the library branch whose name is "Central".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508B1C-A14A-E55C-2573-D0A611D50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20140"/>
            <a:ext cx="7405769" cy="46040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EAFB4C-5B75-55AB-B4A0-B184B3296E46}"/>
              </a:ext>
            </a:extLst>
          </p:cNvPr>
          <p:cNvSpPr txBox="1"/>
          <p:nvPr/>
        </p:nvSpPr>
        <p:spPr>
          <a:xfrm>
            <a:off x="7968342" y="1114697"/>
            <a:ext cx="398286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Join Books, Authors, Copies, and Branch tables.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Filter Author = Stephen 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Filter Branch = Central.</a:t>
            </a:r>
          </a:p>
          <a:p>
            <a:r>
              <a:rPr lang="en-US" sz="1800" b="1" dirty="0"/>
              <a:t>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Central branch has 5 copies of “It”.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Central branch has 5 copies of “The   Green Mile”.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Popular author titles are well stocked.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3670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11000000" cy="4555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Balanced Book Distribution: Each library branch has the same number of book copies, keeping the inventory well organized.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Most Active Branch: The Ann Arbor branch has the highest number of book loans, showing the greatest user activity.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Active Borrowers: All borrowers have borrowed at least one book, and a few users borrowed many books, making them the most active readers.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SQL Analysis: The project used SQL queries such as JOIN, GROUP BY, HAVING, subqueries, and date filters to analyze book usage, borrower activity, and library performance.</a:t>
            </a: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Arial"/>
              <a:buChar char="•"/>
            </a:pPr>
            <a:endParaRPr sz="26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Conclusions &amp; Key Findings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521208" y="1170432"/>
            <a:ext cx="11216604" cy="4216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Data Cleaning: Resolved issues caused by reserved keywords and incorrect date formats during database setup.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Managed Table Dependencies: Created tables in the correct order and handled foreign key constraints to ensure successful data loading.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Built Complex Queries: Used multi-table JOINs to connect related data and generate accurate reports without duplicates.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Learned Practical SQL Skills: Gained experience in database design, data cleaning, troubleshooting errors, and writing efficient SQL queries for real-world scenarios.</a:t>
            </a: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Arial"/>
              <a:buChar char="•"/>
            </a:pPr>
            <a:endParaRPr sz="26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Experience &amp; Challenges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1017</Words>
  <Application>Microsoft Office PowerPoint</Application>
  <PresentationFormat>Widescreen</PresentationFormat>
  <Paragraphs>119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Lato Black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vishnu vardhan koleti</cp:lastModifiedBy>
  <cp:revision>8</cp:revision>
  <dcterms:created xsi:type="dcterms:W3CDTF">2021-02-16T05:19:01Z</dcterms:created>
  <dcterms:modified xsi:type="dcterms:W3CDTF">2026-06-27T06:13:52Z</dcterms:modified>
</cp:coreProperties>
</file>